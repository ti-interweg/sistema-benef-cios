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313" r:id="rId4"/>
    <p:sldId id="323" r:id="rId5"/>
    <p:sldId id="326" r:id="rId6"/>
    <p:sldId id="285" r:id="rId7"/>
    <p:sldId id="340" r:id="rId8"/>
    <p:sldId id="344" r:id="rId9"/>
    <p:sldId id="342" r:id="rId10"/>
    <p:sldId id="343" r:id="rId11"/>
    <p:sldId id="334" r:id="rId12"/>
    <p:sldId id="279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B8E"/>
    <a:srgbClr val="00CC66"/>
    <a:srgbClr val="808285"/>
    <a:srgbClr val="1FBBB1"/>
    <a:srgbClr val="ADF1EC"/>
    <a:srgbClr val="A2A2A2"/>
    <a:srgbClr val="F4F4F4"/>
    <a:srgbClr val="979797"/>
    <a:srgbClr val="1AADCA"/>
    <a:srgbClr val="10A8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C8A53-56D6-49A1-8C84-CF15EED673B8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CE17-0187-467E-B353-42B63D98F9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5778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30EB8-06F6-4421-AAE2-4109382C99B7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0320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630EB8-06F6-4421-AAE2-4109382C99B7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0451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acac9cca18_0_1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3acac9cca18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8FA8-F500-4D0A-AC05-E3FBC7E3EFCD}" type="datetimeFigureOut">
              <a:rPr lang="pt-BR" smtClean="0"/>
              <a:pPr/>
              <a:t>23/04/2026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EF4E-7A76-46EE-9E7B-AAF53043CC7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2791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8FA8-F500-4D0A-AC05-E3FBC7E3EFCD}" type="datetimeFigureOut">
              <a:rPr lang="pt-BR" smtClean="0"/>
              <a:pPr/>
              <a:t>23/04/2026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EF4E-7A76-46EE-9E7B-AAF53043CC7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9617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8FA8-F500-4D0A-AC05-E3FBC7E3EFCD}" type="datetimeFigureOut">
              <a:rPr lang="pt-BR" smtClean="0"/>
              <a:pPr/>
              <a:t>23/04/2026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EF4E-7A76-46EE-9E7B-AAF53043CC7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582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8FA8-F500-4D0A-AC05-E3FBC7E3EFCD}" type="datetimeFigureOut">
              <a:rPr lang="pt-BR" smtClean="0"/>
              <a:pPr/>
              <a:t>23/04/2026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EF4E-7A76-46EE-9E7B-AAF53043CC7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680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8FA8-F500-4D0A-AC05-E3FBC7E3EFCD}" type="datetimeFigureOut">
              <a:rPr lang="pt-BR" smtClean="0"/>
              <a:pPr/>
              <a:t>23/04/2026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EF4E-7A76-46EE-9E7B-AAF53043CC7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511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8FA8-F500-4D0A-AC05-E3FBC7E3EFCD}" type="datetimeFigureOut">
              <a:rPr lang="pt-BR" smtClean="0"/>
              <a:pPr/>
              <a:t>23/04/2026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EF4E-7A76-46EE-9E7B-AAF53043CC7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7864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8FA8-F500-4D0A-AC05-E3FBC7E3EFCD}" type="datetimeFigureOut">
              <a:rPr lang="pt-BR" smtClean="0"/>
              <a:pPr/>
              <a:t>23/04/2026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EF4E-7A76-46EE-9E7B-AAF53043CC7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6716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8FA8-F500-4D0A-AC05-E3FBC7E3EFCD}" type="datetimeFigureOut">
              <a:rPr lang="pt-BR" smtClean="0"/>
              <a:pPr/>
              <a:t>23/04/2026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EF4E-7A76-46EE-9E7B-AAF53043CC7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7032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8FA8-F500-4D0A-AC05-E3FBC7E3EFCD}" type="datetimeFigureOut">
              <a:rPr lang="pt-BR" smtClean="0"/>
              <a:pPr/>
              <a:t>23/04/2026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EF4E-7A76-46EE-9E7B-AAF53043CC7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436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8FA8-F500-4D0A-AC05-E3FBC7E3EFCD}" type="datetimeFigureOut">
              <a:rPr lang="pt-BR" smtClean="0"/>
              <a:pPr/>
              <a:t>23/04/2026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EF4E-7A76-46EE-9E7B-AAF53043CC7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60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8FA8-F500-4D0A-AC05-E3FBC7E3EFCD}" type="datetimeFigureOut">
              <a:rPr lang="pt-BR" smtClean="0"/>
              <a:pPr/>
              <a:t>23/04/2026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EF4E-7A76-46EE-9E7B-AAF53043CC7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389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Título e Conteúd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8845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63012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2770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0522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Duas Partes de Conteúd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7617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Comparação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79964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Somente Título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3527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Conteúdo com Legenda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6571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Imagem com Legenda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0491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Título e Texto Vertical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37429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Texto e Título Vertical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44112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1">
  <p:cSld name="Slide de Título 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c1d9f94cc_0_105"/>
          <p:cNvSpPr>
            <a:spLocks noGrp="1"/>
          </p:cNvSpPr>
          <p:nvPr>
            <p:ph type="pic" idx="2"/>
          </p:nvPr>
        </p:nvSpPr>
        <p:spPr>
          <a:xfrm>
            <a:off x="6932613" y="0"/>
            <a:ext cx="52593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30110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85000"/>
              </a:schemeClr>
            </a:gs>
            <a:gs pos="100000">
              <a:schemeClr val="bg1"/>
            </a:gs>
            <a:gs pos="18000">
              <a:schemeClr val="bg1"/>
            </a:gs>
          </a:gsLst>
          <a:lin ang="7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18FA8-F500-4D0A-AC05-E3FBC7E3EFCD}" type="datetimeFigureOut">
              <a:rPr lang="pt-BR" smtClean="0"/>
              <a:pPr/>
              <a:t>23/04/2026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7EF4E-7A76-46EE-9E7B-AAF53043CC7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7784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88843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4.png"/><Relationship Id="rId7" Type="http://schemas.openxmlformats.org/officeDocument/2006/relationships/image" Target="../media/image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3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18.png"/><Relationship Id="rId5" Type="http://schemas.openxmlformats.org/officeDocument/2006/relationships/image" Target="../media/image19.svg"/><Relationship Id="rId6" Type="http://schemas.openxmlformats.org/officeDocument/2006/relationships/image" Target="../media/image20.png"/><Relationship Id="rId7" Type="http://schemas.openxmlformats.org/officeDocument/2006/relationships/image" Target="../media/image21.svg"/><Relationship Id="rId8" Type="http://schemas.openxmlformats.org/officeDocument/2006/relationships/image" Target="../media/image22.png"/><Relationship Id="rId9" Type="http://schemas.openxmlformats.org/officeDocument/2006/relationships/image" Target="../media/image23.svg"/><Relationship Id="rId10" Type="http://schemas.openxmlformats.org/officeDocument/2006/relationships/image" Target="../media/image24.png"/><Relationship Id="rId11" Type="http://schemas.openxmlformats.org/officeDocument/2006/relationships/image" Target="../media/image25.svg"/><Relationship Id="rId12" Type="http://schemas.openxmlformats.org/officeDocument/2006/relationships/image" Target="../media/image26.png"/><Relationship Id="rId13" Type="http://schemas.openxmlformats.org/officeDocument/2006/relationships/image" Target="../media/image27.svg"/><Relationship Id="rId14" Type="http://schemas.openxmlformats.org/officeDocument/2006/relationships/image" Target="../media/image28.png"/><Relationship Id="rId15" Type="http://schemas.openxmlformats.org/officeDocument/2006/relationships/image" Target="../media/image29.svg"/><Relationship Id="rId16" Type="http://schemas.openxmlformats.org/officeDocument/2006/relationships/image" Target="../media/image30.png"/><Relationship Id="rId17" Type="http://schemas.openxmlformats.org/officeDocument/2006/relationships/image" Target="../media/image31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jp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>
            <a:extLst>
              <a:ext uri="{FF2B5EF4-FFF2-40B4-BE49-F238E27FC236}">
                <a16:creationId xmlns:a16="http://schemas.microsoft.com/office/drawing/2014/main" id="{7BDC700F-9D09-4198-A63B-CF81E6E49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727F29AE-56B7-40BD-9C4B-7EC5A0B2A16F}"/>
              </a:ext>
            </a:extLst>
          </p:cNvPr>
          <p:cNvSpPr/>
          <p:nvPr/>
        </p:nvSpPr>
        <p:spPr>
          <a:xfrm>
            <a:off x="725206" y="961091"/>
            <a:ext cx="100414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6000" b="1" dirty="0">
                <a:solidFill>
                  <a:srgbClr val="008B8E"/>
                </a:solidFill>
                <a:latin typeface="Gilroy-SemiBold" pitchFamily="2" charset="0"/>
                <a:cs typeface="Segoe UI" panose="020B0502040204020203" pitchFamily="34" charset="0"/>
              </a:rPr>
              <a:t>Proposta de Saúde</a:t>
            </a:r>
          </a:p>
          <a:p>
            <a:r>
              <a:rPr lang="pt-BR" sz="6000" b="1" dirty="0">
                <a:solidFill>
                  <a:srgbClr val="008B8E"/>
                </a:solidFill>
                <a:latin typeface="Gilroy-SemiBold" pitchFamily="2" charset="0"/>
                <a:cs typeface="Segoe UI" panose="020B0502040204020203" pitchFamily="34" charset="0"/>
              </a:rPr>
              <a:t>Empresarial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A443731-4EBD-478A-CC7C-D6663E6ECA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283" y="5768102"/>
            <a:ext cx="1786717" cy="108989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7FC6BF0-DFFD-B152-F845-3B250BB0C1F0}"/>
              </a:ext>
            </a:extLst>
          </p:cNvPr>
          <p:cNvSpPr txBox="1"/>
          <p:nvPr/>
        </p:nvSpPr>
        <p:spPr>
          <a:xfrm>
            <a:off x="725206" y="4034010"/>
            <a:ext cx="61507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2">
                    <a:lumMod val="75000"/>
                  </a:schemeClr>
                </a:solidFill>
              </a:rPr>
              <a:t>[NOME DO CLIENTE]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FC6116-51A2-4CC1-B61E-7901D7DE6955}"/>
              </a:ext>
            </a:extLst>
          </p:cNvPr>
          <p:cNvSpPr txBox="1"/>
          <p:nvPr/>
        </p:nvSpPr>
        <p:spPr>
          <a:xfrm>
            <a:off x="725206" y="5568047"/>
            <a:ext cx="6150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2">
                    <a:lumMod val="75000"/>
                  </a:schemeClr>
                </a:solidFill>
              </a:rPr>
              <a:t>[DATA DA APRESENTAÇÃO]</a:t>
            </a:r>
          </a:p>
        </p:txBody>
      </p:sp>
    </p:spTree>
    <p:extLst>
      <p:ext uri="{BB962C8B-B14F-4D97-AF65-F5344CB8AC3E}">
        <p14:creationId xmlns:p14="http://schemas.microsoft.com/office/powerpoint/2010/main" val="352338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7F78E22-4CA3-2D93-2ABF-E24245CC8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2457" y="2660306"/>
            <a:ext cx="5030232" cy="3336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Light" panose="00000400000000000000" pitchFamily="2" charset="0"/>
                <a:ea typeface="+mn-ea"/>
                <a:cs typeface="+mn-cs"/>
              </a:rPr>
              <a:t>A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1FBBB1"/>
                </a:solidFill>
                <a:effectLst/>
                <a:uLnTx/>
                <a:uFillTx/>
                <a:latin typeface="Gilroy-Bold" panose="00000800000000000000" pitchFamily="2" charset="0"/>
                <a:ea typeface="+mn-ea"/>
                <a:cs typeface="+mn-cs"/>
              </a:rPr>
              <a:t>Interweg Seguros e Benefícios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1FBBB1"/>
                </a:solidFill>
                <a:effectLst/>
                <a:uLnTx/>
                <a:uFillTx/>
                <a:latin typeface="Gilroy-Bold" panose="00000800000000000000" pitchFamily="2" charset="0"/>
                <a:ea typeface="+mn-ea"/>
                <a:cs typeface="+mn-cs"/>
              </a:rPr>
              <a:t>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Light" panose="00000400000000000000" pitchFamily="2" charset="0"/>
                <a:ea typeface="+mn-ea"/>
                <a:cs typeface="+mn-cs"/>
              </a:rPr>
              <a:t>é hoje uma das mais conceituadas corretoras de seguros de Minas Gerais, atuando em todo Brasil com atendimento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Bold" panose="00000800000000000000" pitchFamily="2" charset="0"/>
                <a:ea typeface="+mn-ea"/>
                <a:cs typeface="+mn-cs"/>
              </a:rPr>
              <a:t>premium, humanizado e ágil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Light" panose="00000400000000000000" pitchFamily="2" charset="0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Light" panose="00000400000000000000" pitchFamily="2" charset="0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Light" panose="00000400000000000000" pitchFamily="2" charset="0"/>
                <a:ea typeface="+mn-ea"/>
                <a:cs typeface="+mn-cs"/>
              </a:rPr>
              <a:t>Há 3 décadas, oferecemos soluções em benefícios, seguros corporativos, de automóveis e residências e bens de alto valor. Está em nosso DNA garantir a tranquilidade e bem-estar dos nossos clientes para que possam se dedicar em seus objetivos estratégicos e planejamento de vida.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924983F-8A02-4B59-A56E-78E9E2B4C5EF}"/>
              </a:ext>
            </a:extLst>
          </p:cNvPr>
          <p:cNvSpPr/>
          <p:nvPr/>
        </p:nvSpPr>
        <p:spPr>
          <a:xfrm>
            <a:off x="725330" y="1625774"/>
            <a:ext cx="76025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4400" b="1" dirty="0">
                <a:solidFill>
                  <a:prstClr val="white"/>
                </a:solidFill>
                <a:latin typeface="Gilroy-Heavy" panose="00000A00000000000000" pitchFamily="2" charset="0"/>
                <a:cs typeface="Segoe UI" panose="020B0502040204020203" pitchFamily="34" charset="0"/>
              </a:rPr>
              <a:t>Quem somos!</a:t>
            </a:r>
            <a:endParaRPr kumimoji="0" lang="pt-BR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roy-Heavy" panose="00000A00000000000000" pitchFamily="2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163332A2-27F0-7581-24CD-AF1E162D8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365075" y="-699725"/>
            <a:ext cx="3299753" cy="2060409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0FF36C8-792A-4BE4-8006-950B67C749C1}"/>
              </a:ext>
            </a:extLst>
          </p:cNvPr>
          <p:cNvSpPr/>
          <p:nvPr/>
        </p:nvSpPr>
        <p:spPr>
          <a:xfrm>
            <a:off x="2429434" y="711374"/>
            <a:ext cx="382792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7141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>
            <a:extLst>
              <a:ext uri="{FF2B5EF4-FFF2-40B4-BE49-F238E27FC236}">
                <a16:creationId xmlns:a16="http://schemas.microsoft.com/office/drawing/2014/main" id="{07621C5C-ECB9-FBBE-9628-21FB641DC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7C29CDA8-8539-4BD1-A60B-B622CBC9F834}"/>
              </a:ext>
            </a:extLst>
          </p:cNvPr>
          <p:cNvSpPr txBox="1"/>
          <p:nvPr/>
        </p:nvSpPr>
        <p:spPr>
          <a:xfrm>
            <a:off x="6906277" y="2644911"/>
            <a:ext cx="38080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1FBBB1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Consultoria para a gestão de 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1FBBB1"/>
                </a:solidFill>
                <a:effectLst/>
                <a:uLnTx/>
                <a:uFillTx/>
                <a:latin typeface="Gilroy-Bold" panose="00000800000000000000" pitchFamily="2" charset="0"/>
                <a:ea typeface="+mn-ea"/>
                <a:cs typeface="+mn-cs"/>
              </a:rPr>
              <a:t>Riscos Corporativos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A3224FD-B24C-46DA-927A-0AADE98CCFFE}"/>
              </a:ext>
            </a:extLst>
          </p:cNvPr>
          <p:cNvSpPr txBox="1"/>
          <p:nvPr/>
        </p:nvSpPr>
        <p:spPr>
          <a:xfrm>
            <a:off x="6906277" y="3725480"/>
            <a:ext cx="43650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008B8E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Gestão integrada de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008B8E"/>
                </a:solidFill>
                <a:effectLst/>
                <a:uLnTx/>
                <a:uFillTx/>
                <a:latin typeface="Gilroy-Bold" panose="00000800000000000000" pitchFamily="2" charset="0"/>
                <a:ea typeface="+mn-ea"/>
                <a:cs typeface="+mn-cs"/>
              </a:rPr>
              <a:t>Saúde e Benefícios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8C50339-E05D-483F-BB8F-65FBBC74D187}"/>
              </a:ext>
            </a:extLst>
          </p:cNvPr>
          <p:cNvSpPr txBox="1"/>
          <p:nvPr/>
        </p:nvSpPr>
        <p:spPr>
          <a:xfrm>
            <a:off x="7027593" y="4789550"/>
            <a:ext cx="3410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172731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Seguros para 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172731"/>
                </a:solidFill>
                <a:effectLst/>
                <a:uLnTx/>
                <a:uFillTx/>
                <a:latin typeface="Gilroy-Bold" panose="00000800000000000000" pitchFamily="2" charset="0"/>
                <a:ea typeface="+mn-ea"/>
                <a:cs typeface="+mn-cs"/>
              </a:rPr>
              <a:t>bens de alto valor e outras soluções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F9F59F9-7799-CCB1-A90D-E5762740853C}"/>
              </a:ext>
            </a:extLst>
          </p:cNvPr>
          <p:cNvSpPr/>
          <p:nvPr/>
        </p:nvSpPr>
        <p:spPr>
          <a:xfrm>
            <a:off x="5686425" y="1338757"/>
            <a:ext cx="622988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1" i="0" u="none" strike="noStrike" kern="1200" cap="none" spc="0" normalizeH="0" baseline="0" noProof="0" dirty="0">
                <a:ln>
                  <a:noFill/>
                </a:ln>
                <a:solidFill>
                  <a:srgbClr val="1FBBB1"/>
                </a:solidFill>
                <a:effectLst/>
                <a:uLnTx/>
                <a:uFillTx/>
                <a:latin typeface="Gilroy-Heavy" panose="00000A00000000000000" pitchFamily="2" charset="0"/>
                <a:ea typeface="+mn-ea"/>
                <a:cs typeface="Segoe UI" panose="020B0502040204020203" pitchFamily="34" charset="0"/>
              </a:rPr>
              <a:t>Nossas soluções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9CAE386-CF0B-686A-1B94-38D44F66FC89}"/>
              </a:ext>
            </a:extLst>
          </p:cNvPr>
          <p:cNvSpPr/>
          <p:nvPr/>
        </p:nvSpPr>
        <p:spPr>
          <a:xfrm>
            <a:off x="5686425" y="2516526"/>
            <a:ext cx="5324475" cy="912474"/>
          </a:xfrm>
          <a:prstGeom prst="roundRect">
            <a:avLst/>
          </a:prstGeom>
          <a:noFill/>
          <a:ln w="28575">
            <a:solidFill>
              <a:srgbClr val="1FBB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92916D7-89C3-1DB3-FB02-CD11A9DD13ED}"/>
              </a:ext>
            </a:extLst>
          </p:cNvPr>
          <p:cNvSpPr/>
          <p:nvPr/>
        </p:nvSpPr>
        <p:spPr>
          <a:xfrm>
            <a:off x="5686425" y="3597724"/>
            <a:ext cx="5324475" cy="912474"/>
          </a:xfrm>
          <a:prstGeom prst="roundRect">
            <a:avLst/>
          </a:prstGeom>
          <a:noFill/>
          <a:ln w="28575">
            <a:solidFill>
              <a:srgbClr val="008B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8B8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B5BF728-4AD4-B3DE-97EB-5DFFB1C45F5E}"/>
              </a:ext>
            </a:extLst>
          </p:cNvPr>
          <p:cNvSpPr/>
          <p:nvPr/>
        </p:nvSpPr>
        <p:spPr>
          <a:xfrm>
            <a:off x="5686425" y="4692430"/>
            <a:ext cx="5324475" cy="912474"/>
          </a:xfrm>
          <a:prstGeom prst="roundRect">
            <a:avLst/>
          </a:prstGeom>
          <a:noFill/>
          <a:ln w="28575">
            <a:solidFill>
              <a:srgbClr val="004E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17273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19CF74B-FA04-6163-03F7-7550767A03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3097" y="2580700"/>
            <a:ext cx="772097" cy="772097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1F06DB2A-9E2A-D5E9-C4B1-91DFAF75E7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4221" y="3655554"/>
            <a:ext cx="797552" cy="795337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A207BE7A-03D5-0FEB-E6D3-453273C65B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62650" y="4789550"/>
            <a:ext cx="800099" cy="71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517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DF985CEE-698C-09A1-DE78-9C11D950A8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B0237EC-F1C1-4428-A441-D4A1D5E6BCAC}"/>
              </a:ext>
            </a:extLst>
          </p:cNvPr>
          <p:cNvSpPr txBox="1"/>
          <p:nvPr/>
        </p:nvSpPr>
        <p:spPr>
          <a:xfrm>
            <a:off x="1043384" y="3113638"/>
            <a:ext cx="46032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172731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Levamos às empresas soluções em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172731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Saúde, </a:t>
            </a:r>
            <a:r>
              <a:rPr kumimoji="0" lang="pt-B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72731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Odonto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172731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 e Vida em grupo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172731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, além da gestão desses benefícios com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172731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agilidade e eficiência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172731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no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172731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acompanhamento financeiro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172731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e das pessoas.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06697CB-0098-41B3-B733-85ADED42820E}"/>
              </a:ext>
            </a:extLst>
          </p:cNvPr>
          <p:cNvSpPr/>
          <p:nvPr/>
        </p:nvSpPr>
        <p:spPr>
          <a:xfrm>
            <a:off x="1043384" y="1913309"/>
            <a:ext cx="76025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0" i="0" u="none" strike="noStrike" kern="1200" cap="none" spc="0" normalizeH="0" baseline="0" noProof="0" dirty="0">
                <a:ln>
                  <a:noFill/>
                </a:ln>
                <a:solidFill>
                  <a:srgbClr val="008B8E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Segoe UI" panose="020B0502040204020203" pitchFamily="34" charset="0"/>
              </a:rPr>
              <a:t>Gestão da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0" i="0" u="none" strike="noStrike" kern="1200" cap="none" spc="0" normalizeH="0" baseline="0" noProof="0" dirty="0">
                <a:ln>
                  <a:noFill/>
                </a:ln>
                <a:solidFill>
                  <a:srgbClr val="008B8E"/>
                </a:solidFill>
                <a:effectLst/>
                <a:uLnTx/>
                <a:uFillTx/>
                <a:latin typeface="Gilroy-Heavy" panose="00000A00000000000000" pitchFamily="2" charset="0"/>
                <a:ea typeface="+mn-ea"/>
                <a:cs typeface="Segoe UI" panose="020B0502040204020203" pitchFamily="34" charset="0"/>
              </a:rPr>
              <a:t>Saúde e Benefícios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26AB31A-B73B-4416-8CFC-68CDAE74A3F9}"/>
              </a:ext>
            </a:extLst>
          </p:cNvPr>
          <p:cNvSpPr/>
          <p:nvPr/>
        </p:nvSpPr>
        <p:spPr>
          <a:xfrm>
            <a:off x="1043384" y="4827214"/>
            <a:ext cx="2797125" cy="357894"/>
          </a:xfrm>
          <a:prstGeom prst="roundRect">
            <a:avLst/>
          </a:prstGeom>
          <a:solidFill>
            <a:srgbClr val="008B8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Plano de Saúde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63584EB-77CA-4E81-AAE3-16F92EABA1C9}"/>
              </a:ext>
            </a:extLst>
          </p:cNvPr>
          <p:cNvSpPr/>
          <p:nvPr/>
        </p:nvSpPr>
        <p:spPr>
          <a:xfrm>
            <a:off x="1043384" y="5234644"/>
            <a:ext cx="2797125" cy="357894"/>
          </a:xfrm>
          <a:prstGeom prst="roundRect">
            <a:avLst/>
          </a:prstGeom>
          <a:solidFill>
            <a:srgbClr val="008B8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Vida em Grupo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9D9B1F5-110B-4349-B0A6-3BA17B693097}"/>
              </a:ext>
            </a:extLst>
          </p:cNvPr>
          <p:cNvSpPr/>
          <p:nvPr/>
        </p:nvSpPr>
        <p:spPr>
          <a:xfrm>
            <a:off x="1043384" y="5639993"/>
            <a:ext cx="2797125" cy="357894"/>
          </a:xfrm>
          <a:prstGeom prst="roundRect">
            <a:avLst/>
          </a:prstGeom>
          <a:solidFill>
            <a:srgbClr val="008B8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Plano Odontológico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86C26E69-34D9-A2D9-22FA-20300D6E4D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4863" y="835429"/>
            <a:ext cx="797552" cy="795337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3909E582-6B21-4869-DDCF-1ADB34D069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57891" y="4308793"/>
            <a:ext cx="4051042" cy="252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491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>
            <a:extLst>
              <a:ext uri="{FF2B5EF4-FFF2-40B4-BE49-F238E27FC236}">
                <a16:creationId xmlns:a16="http://schemas.microsoft.com/office/drawing/2014/main" id="{33729B63-F56D-42F9-85ED-A2038FB38D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m 7" descr="quebra_cabeç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88551" y="1771455"/>
            <a:ext cx="4360468" cy="43604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CaixaDeTexto 13"/>
          <p:cNvSpPr txBox="1"/>
          <p:nvPr/>
        </p:nvSpPr>
        <p:spPr>
          <a:xfrm>
            <a:off x="953589" y="2266791"/>
            <a:ext cx="20508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GESTÃO ESTRATÉGICA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916407" y="2962113"/>
            <a:ext cx="27956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Implantação de contratos com suporte desde o planejamento até a finalização dos novos serviços em parceria com as principais operadoras do mercado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7839129" y="2108777"/>
            <a:ext cx="24037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Gestão de todos os serviços operacionais dos benefícios junto às operadoras e seguradoras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7845251" y="1422291"/>
            <a:ext cx="20508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GESTÃO OPERACIONAL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9075348" y="4920193"/>
            <a:ext cx="24037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Médicos, enfermeiras, psicólogos e demais profissionais da saúde para acompanhamento próximo e personalizado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9059698" y="4190163"/>
            <a:ext cx="23370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EQUIPE MULTIDISCIPLINAR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2429531" y="5764522"/>
            <a:ext cx="2403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Monitoramento de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sinistralidade</a:t>
            </a: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roy-Medium" panose="00000600000000000000" pitchFamily="2" charset="0"/>
              <a:ea typeface="+mn-ea"/>
              <a:cs typeface="+mn-cs"/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2435653" y="5121580"/>
            <a:ext cx="20508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Medium" panose="00000600000000000000" pitchFamily="2" charset="0"/>
                <a:ea typeface="+mn-ea"/>
                <a:cs typeface="+mn-cs"/>
              </a:rPr>
              <a:t>GESTÃO DA SAÚDE</a:t>
            </a:r>
          </a:p>
        </p:txBody>
      </p:sp>
      <p:cxnSp>
        <p:nvCxnSpPr>
          <p:cNvPr id="30" name="Conector reto 29"/>
          <p:cNvCxnSpPr/>
          <p:nvPr/>
        </p:nvCxnSpPr>
        <p:spPr>
          <a:xfrm>
            <a:off x="1077686" y="2952592"/>
            <a:ext cx="3015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/>
          <p:nvPr/>
        </p:nvCxnSpPr>
        <p:spPr>
          <a:xfrm>
            <a:off x="2579914" y="5771992"/>
            <a:ext cx="2547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/>
          <p:nvPr/>
        </p:nvCxnSpPr>
        <p:spPr>
          <a:xfrm rot="10800000">
            <a:off x="7292788" y="2116954"/>
            <a:ext cx="21118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/>
          <p:nvPr/>
        </p:nvCxnSpPr>
        <p:spPr>
          <a:xfrm rot="10800000">
            <a:off x="8359589" y="4879363"/>
            <a:ext cx="27758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>
            <a:extLst>
              <a:ext uri="{FF2B5EF4-FFF2-40B4-BE49-F238E27FC236}">
                <a16:creationId xmlns:a16="http://schemas.microsoft.com/office/drawing/2014/main" id="{9A929896-7425-40F4-B6F6-859A3F949570}"/>
              </a:ext>
            </a:extLst>
          </p:cNvPr>
          <p:cNvSpPr/>
          <p:nvPr/>
        </p:nvSpPr>
        <p:spPr>
          <a:xfrm>
            <a:off x="849085" y="631805"/>
            <a:ext cx="76025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-SemiBold" pitchFamily="2" charset="0"/>
                <a:ea typeface="+mn-ea"/>
                <a:cs typeface="Segoe UI" panose="020B0502040204020203" pitchFamily="34" charset="0"/>
              </a:rPr>
              <a:t>Como atuamos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B880803A-6983-419B-B791-91ED06E877CB}"/>
              </a:ext>
            </a:extLst>
          </p:cNvPr>
          <p:cNvCxnSpPr>
            <a:cxnSpLocks/>
          </p:cNvCxnSpPr>
          <p:nvPr/>
        </p:nvCxnSpPr>
        <p:spPr>
          <a:xfrm>
            <a:off x="947057" y="1219527"/>
            <a:ext cx="5980216" cy="0"/>
          </a:xfrm>
          <a:prstGeom prst="line">
            <a:avLst/>
          </a:prstGeom>
          <a:ln>
            <a:solidFill>
              <a:srgbClr val="1FBB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393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áfico 16">
            <a:extLst>
              <a:ext uri="{FF2B5EF4-FFF2-40B4-BE49-F238E27FC236}">
                <a16:creationId xmlns:a16="http://schemas.microsoft.com/office/drawing/2014/main" id="{24EB2C5A-CD94-4223-9D64-7C4B58697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7406" y="182503"/>
            <a:ext cx="1150437" cy="574583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3F879F0D-77E7-4E5F-9091-61B14E28553C}"/>
              </a:ext>
            </a:extLst>
          </p:cNvPr>
          <p:cNvSpPr/>
          <p:nvPr/>
        </p:nvSpPr>
        <p:spPr>
          <a:xfrm>
            <a:off x="134157" y="182503"/>
            <a:ext cx="83912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400" b="1" dirty="0">
                <a:solidFill>
                  <a:srgbClr val="008B8E"/>
                </a:solidFill>
                <a:latin typeface="Gilroy-SemiBold" pitchFamily="2" charset="0"/>
                <a:cs typeface="Segoe UI" panose="020B0502040204020203" pitchFamily="34" charset="0"/>
              </a:rPr>
              <a:t>COMPARATIVO DE CUSTOS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008B8E"/>
                </a:solidFill>
                <a:effectLst/>
                <a:uLnTx/>
                <a:uFillTx/>
                <a:latin typeface="Gilroy-SemiBold" pitchFamily="2" charset="0"/>
                <a:ea typeface="+mn-ea"/>
                <a:cs typeface="Segoe UI" panose="020B0502040204020203" pitchFamily="34" charset="0"/>
              </a:rPr>
              <a:t>                                                        </a:t>
            </a:r>
            <a:endParaRPr kumimoji="0" lang="pt-BR" sz="1400" b="1" i="0" u="none" strike="noStrike" kern="1200" cap="none" spc="0" normalizeH="0" baseline="0" noProof="0" dirty="0">
              <a:ln>
                <a:noFill/>
              </a:ln>
              <a:solidFill>
                <a:srgbClr val="008B8E"/>
              </a:solidFill>
              <a:effectLst/>
              <a:uLnTx/>
              <a:uFillTx/>
              <a:latin typeface="Gilroy-SemiBold" pitchFamily="2" charset="0"/>
              <a:ea typeface="+mn-ea"/>
              <a:cs typeface="Segoe UI" panose="020B0502040204020203" pitchFamily="34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868680"/>
          <a:ext cx="11521440" cy="5285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86000"/>
                <a:gridCol w="2286000"/>
                <a:gridCol w="2286000"/>
                <a:gridCol w="2286000"/>
              </a:tblGrid>
              <a:tr h="310896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0"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PLANO ATUAL</a:t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COTAÇÃO 1</a:t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COTAÇÃO 2</a:t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COTAÇÃO 3</a:t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</a:tr>
              <a:tr h="310896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Operadora / Produto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AMIL S2500 R2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BRADESCO NACIONAL PLUS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SULAMÉRICA EXECUTIVO 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HAPVIDA NOTREDAME ESPECIAL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Tipo de Plano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Saúde PME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Saúde PME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Saúde PME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Saúde PME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310896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Acomodação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Apartamento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Apartamento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Apartamento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Enfermaria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Coparticipação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Sem Coparticipação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Completa 30%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Sem Coparticipação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310896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Mensalidade 0-18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R$ 1.105,84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R$ 1.413,74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R$ 1.130,48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R$ 980,12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Mensalidade 19-23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R$ 1.226,73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R$ 1.567,89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R$ 1.255,30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R$ 1.080,55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310896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Mensalidade 24-28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R$ 1.413,90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R$ 1.806,55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R$ 1.448,12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R$ 1.245,80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Mensalidade 29-33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R$ 1.625,27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R$ 2.072,23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R$ 1.660,15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R$ 1.430,90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310896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Mensalidade 34-38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R$ 1.815,90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R$ 2.319,75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R$ 1.857,64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R$ 1.598,40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Mensalidade 39-43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R$ 2.090,17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R$ 2.665,93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R$ 2.137,55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R$ 1.838,00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310896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Mensalidade 44-48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R$ 2.554,84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R$ 3.265,77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R$ 2.617,90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R$ 2.250,75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Mensalidade 49-53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R$ 3.215,06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R$ 4.114,02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R$ 3.296,58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R$ 2.840,60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310896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Mensalidade 54-58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R$ 3.871,42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R$ 4.949,30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R$ 3.964,71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R$ 3.421,75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Mensalidade 59+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R$ 5.219,85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R$ 7.064,83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R$ 5.777,45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R$ 4.612,80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310896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Total Mensal Estimado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R$ 28.464,98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R$ 35.835,84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R$ 29.700,38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R$ 25.679,12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Variação vs. Plano Atual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+25,9%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+4,3%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−9,8%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74320" y="713232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50" i="1">
                <a:solidFill>
                  <a:srgbClr val="808285"/>
                </a:solidFill>
                <a:latin typeface="Calibri"/>
              </a:rPr>
              <a:t>Coluna em destaque = plano atual do cliente. Demais colunas = cotações vigentes para análise.</a:t>
            </a:r>
          </a:p>
        </p:txBody>
      </p:sp>
    </p:spTree>
    <p:extLst>
      <p:ext uri="{BB962C8B-B14F-4D97-AF65-F5344CB8AC3E}">
        <p14:creationId xmlns:p14="http://schemas.microsoft.com/office/powerpoint/2010/main" val="725641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áfico 16">
            <a:extLst>
              <a:ext uri="{FF2B5EF4-FFF2-40B4-BE49-F238E27FC236}">
                <a16:creationId xmlns:a16="http://schemas.microsoft.com/office/drawing/2014/main" id="{24EB2C5A-CD94-4223-9D64-7C4B58697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7406" y="182503"/>
            <a:ext cx="1150437" cy="574583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3F879F0D-77E7-4E5F-9091-61B14E28553C}"/>
              </a:ext>
            </a:extLst>
          </p:cNvPr>
          <p:cNvSpPr/>
          <p:nvPr/>
        </p:nvSpPr>
        <p:spPr>
          <a:xfrm>
            <a:off x="134157" y="182503"/>
            <a:ext cx="83912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008B8E"/>
                </a:solidFill>
                <a:effectLst/>
                <a:uLnTx/>
                <a:uFillTx/>
                <a:latin typeface="Gilroy-SemiBold" pitchFamily="2" charset="0"/>
                <a:ea typeface="+mn-ea"/>
                <a:cs typeface="Segoe UI" panose="020B0502040204020203" pitchFamily="34" charset="0"/>
              </a:rPr>
              <a:t>COPARTICIPAÇÕES                                                        </a:t>
            </a:r>
            <a:endParaRPr kumimoji="0" lang="pt-BR" sz="1400" b="1" i="0" u="none" strike="noStrike" kern="1200" cap="none" spc="0" normalizeH="0" baseline="0" noProof="0" dirty="0">
              <a:ln>
                <a:noFill/>
              </a:ln>
              <a:solidFill>
                <a:srgbClr val="008B8E"/>
              </a:solidFill>
              <a:effectLst/>
              <a:uLnTx/>
              <a:uFillTx/>
              <a:latin typeface="Gilroy-SemiBold" pitchFamily="2" charset="0"/>
              <a:ea typeface="+mn-ea"/>
              <a:cs typeface="Segoe UI" panose="020B0502040204020203" pitchFamily="34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868680"/>
          <a:ext cx="115214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86000"/>
                <a:gridCol w="2286000"/>
                <a:gridCol w="2286000"/>
                <a:gridCol w="2286000"/>
              </a:tblGrid>
              <a:tr h="50292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0"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PLANO ATUAL</a:t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COTAÇÃO 1</a:t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COTAÇÃO 2</a:t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COTAÇÃO 3</a:t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</a:tr>
              <a:tr h="50292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Consultas eletivas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R$ 35,00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Sem coparticipação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30% até R$ 60,00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Sem coparticipação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Exames simples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R$ 12,00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Sem coparticipação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30% até R$ 40,00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Sem coparticipação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50292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Exames complexos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R$ 80,00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Sem coparticipação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30% até R$ 220,00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R$ 60,00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Pronto-socorro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R$ 70,00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Sem coparticipação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30% até R$ 110,00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R$ 50,00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50292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Terapias (psico, fono, fisio)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R$ 25,00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Sem coparticipação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30% até R$ 50,00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R$ 20,00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Internações clínicas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50292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Internações cirúrgicas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74320" y="713232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50" i="1">
                <a:solidFill>
                  <a:srgbClr val="808285"/>
                </a:solidFill>
                <a:latin typeface="Calibri"/>
              </a:rPr>
              <a:t>Coluna em destaque = plano atual do cliente. Demais colunas = cotações vigentes para análise.</a:t>
            </a:r>
          </a:p>
        </p:txBody>
      </p:sp>
    </p:spTree>
    <p:extLst>
      <p:ext uri="{BB962C8B-B14F-4D97-AF65-F5344CB8AC3E}">
        <p14:creationId xmlns:p14="http://schemas.microsoft.com/office/powerpoint/2010/main" val="3199238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áfico 16">
            <a:extLst>
              <a:ext uri="{FF2B5EF4-FFF2-40B4-BE49-F238E27FC236}">
                <a16:creationId xmlns:a16="http://schemas.microsoft.com/office/drawing/2014/main" id="{24EB2C5A-CD94-4223-9D64-7C4B58697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7406" y="182503"/>
            <a:ext cx="1150437" cy="574583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3F879F0D-77E7-4E5F-9091-61B14E28553C}"/>
              </a:ext>
            </a:extLst>
          </p:cNvPr>
          <p:cNvSpPr/>
          <p:nvPr/>
        </p:nvSpPr>
        <p:spPr>
          <a:xfrm>
            <a:off x="134157" y="182503"/>
            <a:ext cx="83912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008B8E"/>
                </a:solidFill>
                <a:effectLst/>
                <a:uLnTx/>
                <a:uFillTx/>
                <a:latin typeface="Gilroy-SemiBold" pitchFamily="2" charset="0"/>
                <a:ea typeface="+mn-ea"/>
                <a:cs typeface="Segoe UI" panose="020B0502040204020203" pitchFamily="34" charset="0"/>
              </a:rPr>
              <a:t>CARÊNCIAS                                                        </a:t>
            </a:r>
            <a:endParaRPr kumimoji="0" lang="pt-BR" sz="1400" b="1" i="0" u="none" strike="noStrike" kern="1200" cap="none" spc="0" normalizeH="0" baseline="0" noProof="0" dirty="0">
              <a:ln>
                <a:noFill/>
              </a:ln>
              <a:solidFill>
                <a:srgbClr val="008B8E"/>
              </a:solidFill>
              <a:effectLst/>
              <a:uLnTx/>
              <a:uFillTx/>
              <a:latin typeface="Gilroy-SemiBold" pitchFamily="2" charset="0"/>
              <a:ea typeface="+mn-ea"/>
              <a:cs typeface="Segoe UI" panose="020B0502040204020203" pitchFamily="34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868680"/>
          <a:ext cx="115214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86000"/>
                <a:gridCol w="2286000"/>
                <a:gridCol w="2286000"/>
                <a:gridCol w="2286000"/>
              </a:tblGrid>
              <a:tr h="45720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0"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PLANO ATUAL</a:t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COTAÇÃO 1</a:t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COTAÇÃO 2</a:t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COTAÇÃO 3</a:t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</a:tr>
              <a:tr h="45720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Acidentes pessoais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Imediato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Imediato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Imediato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Imediato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Consultas / exames simples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30 dias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30 dias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24 horas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30 dias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45720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Exames complexos / terapias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180 dias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180 dias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180 dias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180 dias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Internações clínicas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180 dias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180 dias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180 dias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180 dias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45720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Internações cirúrgicas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180 dias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180 dias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180 dias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180 dias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Parto a termo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300 dias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300 dias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300 dias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300 dias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45720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Doenças e lesões preexistentes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24 meses (CPT)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24 meses (CPT)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24 meses (CPT)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24 meses (CPT)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Aproveitamento de carências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Conforme contrato anterior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Conforme contrato anterior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Conforme contrato anterior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Conforme contrato anterior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74320" y="713232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50" i="1">
                <a:solidFill>
                  <a:srgbClr val="808285"/>
                </a:solidFill>
                <a:latin typeface="Calibri"/>
              </a:rPr>
              <a:t>Coluna em destaque = plano atual do cliente. Demais colunas = cotações vigentes para análise.</a:t>
            </a:r>
          </a:p>
        </p:txBody>
      </p:sp>
    </p:spTree>
    <p:extLst>
      <p:ext uri="{BB962C8B-B14F-4D97-AF65-F5344CB8AC3E}">
        <p14:creationId xmlns:p14="http://schemas.microsoft.com/office/powerpoint/2010/main" val="2596778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áfico 16">
            <a:extLst>
              <a:ext uri="{FF2B5EF4-FFF2-40B4-BE49-F238E27FC236}">
                <a16:creationId xmlns:a16="http://schemas.microsoft.com/office/drawing/2014/main" id="{24EB2C5A-CD94-4223-9D64-7C4B58697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7406" y="182503"/>
            <a:ext cx="1150437" cy="574583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3F879F0D-77E7-4E5F-9091-61B14E28553C}"/>
              </a:ext>
            </a:extLst>
          </p:cNvPr>
          <p:cNvSpPr/>
          <p:nvPr/>
        </p:nvSpPr>
        <p:spPr>
          <a:xfrm>
            <a:off x="134157" y="182503"/>
            <a:ext cx="83912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rgbClr val="008B8E"/>
                </a:solidFill>
                <a:latin typeface="Gilroy-SemiBold" pitchFamily="2" charset="0"/>
                <a:cs typeface="Segoe UI" panose="020B0502040204020203" pitchFamily="34" charset="0"/>
              </a:rPr>
              <a:t>INFORMAÇÕES GERAIS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008B8E"/>
                </a:solidFill>
                <a:effectLst/>
                <a:uLnTx/>
                <a:uFillTx/>
                <a:latin typeface="Gilroy-SemiBold" pitchFamily="2" charset="0"/>
                <a:ea typeface="+mn-ea"/>
                <a:cs typeface="Segoe UI" panose="020B0502040204020203" pitchFamily="34" charset="0"/>
              </a:rPr>
              <a:t>                                                      </a:t>
            </a:r>
            <a:endParaRPr kumimoji="0" lang="pt-BR" sz="1400" b="1" i="0" u="none" strike="noStrike" kern="1200" cap="none" spc="0" normalizeH="0" baseline="0" noProof="0" dirty="0">
              <a:ln>
                <a:noFill/>
              </a:ln>
              <a:solidFill>
                <a:srgbClr val="008B8E"/>
              </a:solidFill>
              <a:effectLst/>
              <a:uLnTx/>
              <a:uFillTx/>
              <a:latin typeface="Gilroy-SemiBold" pitchFamily="2" charset="0"/>
              <a:ea typeface="+mn-ea"/>
              <a:cs typeface="Segoe UI" panose="020B0502040204020203" pitchFamily="34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868680"/>
          <a:ext cx="115214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86000"/>
                <a:gridCol w="2286000"/>
                <a:gridCol w="2286000"/>
                <a:gridCol w="2286000"/>
              </a:tblGrid>
              <a:tr h="50292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0"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PLANO ATUAL</a:t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COTAÇÃO 1</a:t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COTAÇÃO 2</a:t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COTAÇÃO 3</a:t>
                      </a:r>
                    </a:p>
                  </a:txBody>
                  <a:tcPr>
                    <a:solidFill>
                      <a:srgbClr val="006677"/>
                    </a:solidFill>
                  </a:tcPr>
                </a:tc>
              </a:tr>
              <a:tr h="50292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Modalidade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Adesão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Adesão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Compulsório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Adesão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Reembolso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Tabela Padrão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Múltiplo 1x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Múltiplo 2x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Sem reembolso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50292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Reajuste 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IGP-M + VCMH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IPCA + VCMH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VCMH integral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IPCA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Forma de pagamento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Boleto mensal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Boleto mensal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Débito em conta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Boleto mensal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50292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Vigência mínima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12 meses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12 meses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24 meses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12 meses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Rede credenciada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Nacional Premium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Nacional Plus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Nacional Executivo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Regional MG/SP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</a:tr>
              <a:tr h="502920">
                <a:tc>
                  <a:txBody>
                    <a:bodyPr lIns="54864" rIns="54864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6454F"/>
                          </a:solidFill>
                          <a:latin typeface="Calibri"/>
                        </a:rPr>
                        <a:t>Validade da proposta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6677"/>
                          </a:solidFill>
                          <a:latin typeface="Calibri"/>
                        </a:rPr>
                        <a:t>30 dias</a:t>
                      </a:r>
                    </a:p>
                  </a:txBody>
                  <a:tcPr>
                    <a:solidFill>
                      <a:srgbClr val="FFF4CD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30 dias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30 dias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26"/>
                          </a:solidFill>
                          <a:latin typeface="Calibri"/>
                        </a:rPr>
                        <a:t>30 dias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74320" y="713232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50" i="1">
                <a:solidFill>
                  <a:srgbClr val="808285"/>
                </a:solidFill>
                <a:latin typeface="Calibri"/>
              </a:rPr>
              <a:t>Coluna em destaque = plano atual do cliente. Demais colunas = cotações vigentes para análise.</a:t>
            </a:r>
          </a:p>
        </p:txBody>
      </p:sp>
    </p:spTree>
    <p:extLst>
      <p:ext uri="{BB962C8B-B14F-4D97-AF65-F5344CB8AC3E}">
        <p14:creationId xmlns:p14="http://schemas.microsoft.com/office/powerpoint/2010/main" val="2851942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48877264-BAC7-4953-BB39-05533955654E}"/>
              </a:ext>
            </a:extLst>
          </p:cNvPr>
          <p:cNvSpPr/>
          <p:nvPr/>
        </p:nvSpPr>
        <p:spPr>
          <a:xfrm>
            <a:off x="134157" y="290921"/>
            <a:ext cx="76025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008B8E"/>
                </a:solidFill>
                <a:effectLst/>
                <a:uLnTx/>
                <a:uFillTx/>
                <a:latin typeface="Gilroy-SemiBold" pitchFamily="2" charset="0"/>
                <a:ea typeface="+mn-ea"/>
                <a:cs typeface="Segoe UI" panose="020B0502040204020203" pitchFamily="34" charset="0"/>
              </a:rPr>
              <a:t>CUIDANDO 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1FBBB1"/>
                </a:solidFill>
                <a:effectLst/>
                <a:uLnTx/>
                <a:uFillTx/>
                <a:latin typeface="Gilroy-SemiBold" pitchFamily="2" charset="0"/>
                <a:ea typeface="+mn-ea"/>
                <a:cs typeface="Segoe UI" panose="020B0502040204020203" pitchFamily="34" charset="0"/>
              </a:rPr>
              <a:t>DOS SEUS BENEFÍCIOS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2E2D860-C680-43C4-A4C4-0F109181A986}"/>
              </a:ext>
            </a:extLst>
          </p:cNvPr>
          <p:cNvSpPr txBox="1"/>
          <p:nvPr/>
        </p:nvSpPr>
        <p:spPr>
          <a:xfrm>
            <a:off x="7419164" y="1265211"/>
            <a:ext cx="406346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1600" b="1" dirty="0">
              <a:solidFill>
                <a:srgbClr val="008B8E"/>
              </a:solidFill>
            </a:endParaRPr>
          </a:p>
          <a:p>
            <a:pPr algn="just"/>
            <a:r>
              <a:rPr lang="pt-BR" sz="1600" b="1" dirty="0">
                <a:solidFill>
                  <a:srgbClr val="008B8E"/>
                </a:solidFill>
              </a:rPr>
              <a:t>Analista dedicada para acompanhar suas demandas com agilidade e proximidade;</a:t>
            </a:r>
          </a:p>
          <a:p>
            <a:pPr algn="just"/>
            <a:endParaRPr lang="pt-BR" sz="1600" b="1" dirty="0">
              <a:solidFill>
                <a:srgbClr val="008B8E"/>
              </a:solidFill>
            </a:endParaRPr>
          </a:p>
          <a:p>
            <a:pPr algn="just"/>
            <a:r>
              <a:rPr lang="pt-BR" sz="1600" b="1" dirty="0">
                <a:solidFill>
                  <a:srgbClr val="008B8E"/>
                </a:solidFill>
              </a:rPr>
              <a:t>Gestão de movimentações e faturamento, com fluxo operacional claro e eficiente;</a:t>
            </a:r>
          </a:p>
          <a:p>
            <a:pPr algn="just"/>
            <a:endParaRPr lang="pt-BR" sz="1600" b="1" dirty="0">
              <a:solidFill>
                <a:srgbClr val="008B8E"/>
              </a:solidFill>
            </a:endParaRPr>
          </a:p>
          <a:p>
            <a:pPr algn="just"/>
            <a:r>
              <a:rPr lang="pt-BR" sz="1600" b="1" dirty="0">
                <a:solidFill>
                  <a:srgbClr val="008B8E"/>
                </a:solidFill>
              </a:rPr>
              <a:t>Interface constante com a seguradora,                                        garantindo alinhamento e resoluções rápidas;</a:t>
            </a:r>
          </a:p>
          <a:p>
            <a:pPr algn="just"/>
            <a:endParaRPr lang="pt-BR" sz="1600" b="1" dirty="0">
              <a:solidFill>
                <a:srgbClr val="008B8E"/>
              </a:solidFill>
            </a:endParaRPr>
          </a:p>
          <a:p>
            <a:pPr algn="just"/>
            <a:r>
              <a:rPr lang="pt-BR" sz="1600" b="1" dirty="0">
                <a:solidFill>
                  <a:srgbClr val="008B8E"/>
                </a:solidFill>
              </a:rPr>
              <a:t>Apoio técnico na análise de sinistralidade e reajustes, com foco em controle e previsibilidade;</a:t>
            </a:r>
          </a:p>
          <a:p>
            <a:pPr algn="just"/>
            <a:endParaRPr lang="pt-BR" sz="1600" b="1" dirty="0">
              <a:solidFill>
                <a:srgbClr val="008B8E"/>
              </a:solidFill>
            </a:endParaRPr>
          </a:p>
          <a:p>
            <a:pPr algn="just"/>
            <a:r>
              <a:rPr lang="pt-BR" sz="1600" b="1" dirty="0">
                <a:solidFill>
                  <a:srgbClr val="008B8E"/>
                </a:solidFill>
              </a:rPr>
              <a:t>Acompanhamento do cumprimento das regras contratuais, assegurando conformidade e tranquilidade;</a:t>
            </a:r>
          </a:p>
          <a:p>
            <a:pPr algn="just"/>
            <a:endParaRPr lang="pt-BR" sz="1600" b="1" dirty="0">
              <a:solidFill>
                <a:srgbClr val="008B8E"/>
              </a:solidFill>
            </a:endParaRPr>
          </a:p>
          <a:p>
            <a:pPr algn="just"/>
            <a:r>
              <a:rPr lang="pt-BR" sz="1600" b="1" dirty="0">
                <a:solidFill>
                  <a:srgbClr val="008B8E"/>
                </a:solidFill>
              </a:rPr>
              <a:t>E muito mais!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585A06B-BEB1-4F88-BE61-2FFF867FCFDB}"/>
              </a:ext>
            </a:extLst>
          </p:cNvPr>
          <p:cNvSpPr txBox="1"/>
          <p:nvPr/>
        </p:nvSpPr>
        <p:spPr>
          <a:xfrm>
            <a:off x="652996" y="2138478"/>
            <a:ext cx="55740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i="0" u="none" strike="noStrike" baseline="0" dirty="0">
                <a:solidFill>
                  <a:srgbClr val="1FBBB1"/>
                </a:solidFill>
                <a:latin typeface="OpenSans-Bold"/>
              </a:rPr>
              <a:t>Já pensou nas vantagens de ter seu apoio em seguros em um só lugar?</a:t>
            </a:r>
            <a:endParaRPr lang="pt-BR" sz="2800" dirty="0">
              <a:solidFill>
                <a:srgbClr val="1FBBB1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8DC96C9-B31F-4B40-84D0-13449901CD39}"/>
              </a:ext>
            </a:extLst>
          </p:cNvPr>
          <p:cNvSpPr txBox="1"/>
          <p:nvPr/>
        </p:nvSpPr>
        <p:spPr>
          <a:xfrm>
            <a:off x="767708" y="3650479"/>
            <a:ext cx="53282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solidFill>
                  <a:srgbClr val="808285"/>
                </a:solidFill>
              </a:rPr>
              <a:t>Facilitamos o seu dia a dia quando o assunto é seguro  e também oferecemos a tranquilidade e o cuidado que sua equipe merece!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A3758F23-6FD7-DCFD-F1E5-A6CC17338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7406" y="182503"/>
            <a:ext cx="1150437" cy="574583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0D538399-33D9-4C04-9C9C-E0DDD14C769A}"/>
              </a:ext>
            </a:extLst>
          </p:cNvPr>
          <p:cNvSpPr/>
          <p:nvPr/>
        </p:nvSpPr>
        <p:spPr>
          <a:xfrm>
            <a:off x="7423652" y="868026"/>
            <a:ext cx="26112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rgbClr val="008B8E"/>
                </a:solidFill>
              </a:rPr>
              <a:t>O que oferecemos:</a:t>
            </a:r>
          </a:p>
        </p:txBody>
      </p:sp>
      <p:pic>
        <p:nvPicPr>
          <p:cNvPr id="5" name="Gráfico 4" descr="Marca de seleção">
            <a:extLst>
              <a:ext uri="{FF2B5EF4-FFF2-40B4-BE49-F238E27FC236}">
                <a16:creationId xmlns:a16="http://schemas.microsoft.com/office/drawing/2014/main" id="{037644F2-D69D-44FF-B5F2-C1436DD7D9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2243" y="890134"/>
            <a:ext cx="403485" cy="403485"/>
          </a:xfrm>
          <a:prstGeom prst="rect">
            <a:avLst/>
          </a:prstGeom>
        </p:spPr>
      </p:pic>
      <p:pic>
        <p:nvPicPr>
          <p:cNvPr id="16" name="Gráfico 15" descr="Funcionário de escritório">
            <a:extLst>
              <a:ext uri="{FF2B5EF4-FFF2-40B4-BE49-F238E27FC236}">
                <a16:creationId xmlns:a16="http://schemas.microsoft.com/office/drawing/2014/main" id="{FA964E9C-3DE7-4DF8-AE68-01699C6501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16257" y="1691062"/>
            <a:ext cx="501975" cy="501975"/>
          </a:xfrm>
          <a:prstGeom prst="rect">
            <a:avLst/>
          </a:prstGeom>
        </p:spPr>
      </p:pic>
      <p:pic>
        <p:nvPicPr>
          <p:cNvPr id="21" name="Gráfico 20" descr="Repetir">
            <a:extLst>
              <a:ext uri="{FF2B5EF4-FFF2-40B4-BE49-F238E27FC236}">
                <a16:creationId xmlns:a16="http://schemas.microsoft.com/office/drawing/2014/main" id="{1C3289B3-1ECE-47A9-8E39-B3DAE20E5A8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8281" y="2658673"/>
            <a:ext cx="479020" cy="479020"/>
          </a:xfrm>
          <a:prstGeom prst="rect">
            <a:avLst/>
          </a:prstGeom>
        </p:spPr>
      </p:pic>
      <p:pic>
        <p:nvPicPr>
          <p:cNvPr id="23" name="Gráfico 22" descr="Aperto de mãos">
            <a:extLst>
              <a:ext uri="{FF2B5EF4-FFF2-40B4-BE49-F238E27FC236}">
                <a16:creationId xmlns:a16="http://schemas.microsoft.com/office/drawing/2014/main" id="{3940ED2B-4F7C-42C4-A402-89D478C3A1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83851" y="6273972"/>
            <a:ext cx="539801" cy="539801"/>
          </a:xfrm>
          <a:prstGeom prst="rect">
            <a:avLst/>
          </a:prstGeom>
        </p:spPr>
      </p:pic>
      <p:pic>
        <p:nvPicPr>
          <p:cNvPr id="25" name="Gráfico 24" descr="Gráfico de barras">
            <a:extLst>
              <a:ext uri="{FF2B5EF4-FFF2-40B4-BE49-F238E27FC236}">
                <a16:creationId xmlns:a16="http://schemas.microsoft.com/office/drawing/2014/main" id="{4A2BC32C-74E1-4268-9856-219B866DE43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89810" y="3511892"/>
            <a:ext cx="582861" cy="582861"/>
          </a:xfrm>
          <a:prstGeom prst="rect">
            <a:avLst/>
          </a:prstGeom>
        </p:spPr>
      </p:pic>
      <p:pic>
        <p:nvPicPr>
          <p:cNvPr id="27" name="Gráfico 26" descr="Lista de verificação">
            <a:extLst>
              <a:ext uri="{FF2B5EF4-FFF2-40B4-BE49-F238E27FC236}">
                <a16:creationId xmlns:a16="http://schemas.microsoft.com/office/drawing/2014/main" id="{CECC87FA-424E-4630-B32C-1F91EA9B890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883685" y="4560253"/>
            <a:ext cx="588213" cy="588213"/>
          </a:xfrm>
          <a:prstGeom prst="rect">
            <a:avLst/>
          </a:prstGeom>
        </p:spPr>
      </p:pic>
      <p:pic>
        <p:nvPicPr>
          <p:cNvPr id="29" name="Gráfico 28" descr="Crescimento da Empresa">
            <a:extLst>
              <a:ext uri="{FF2B5EF4-FFF2-40B4-BE49-F238E27FC236}">
                <a16:creationId xmlns:a16="http://schemas.microsoft.com/office/drawing/2014/main" id="{7B0F1859-0AD5-4225-8C27-E5C7C0A04E3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905400" y="5516833"/>
            <a:ext cx="489644" cy="48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509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g3acac9cca18_0_1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7" cy="685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g3acac9cca18_0_1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6464" y="1645837"/>
            <a:ext cx="4540866" cy="2769928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g3acac9cca18_0_154"/>
          <p:cNvSpPr txBox="1"/>
          <p:nvPr/>
        </p:nvSpPr>
        <p:spPr>
          <a:xfrm>
            <a:off x="4970442" y="5479983"/>
            <a:ext cx="2819100" cy="9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/>
                <a:ea typeface="Lexend"/>
                <a:cs typeface="Lexend"/>
                <a:sym typeface="Lexend"/>
              </a:rPr>
              <a:t>Belo Horizonte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/>
                <a:ea typeface="Lexend"/>
                <a:cs typeface="Lexend"/>
                <a:sym typeface="Lexend"/>
              </a:rPr>
              <a:t>Av. Raja Gabáglia, 4.987 – 3º andar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/>
                <a:ea typeface="Lexend"/>
                <a:cs typeface="Lexend"/>
                <a:sym typeface="Lexend"/>
              </a:rPr>
              <a:t>Santa Lúcia – Belo Horizonte/MG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/>
                <a:ea typeface="Lexend"/>
                <a:cs typeface="Lexend"/>
                <a:sym typeface="Lexend"/>
              </a:rPr>
              <a:t>Tel: (31) 3508-6000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2" name="Google Shape;442;g3acac9cca18_0_154"/>
          <p:cNvSpPr txBox="1"/>
          <p:nvPr/>
        </p:nvSpPr>
        <p:spPr>
          <a:xfrm>
            <a:off x="637242" y="5483100"/>
            <a:ext cx="3727500" cy="9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/>
                <a:ea typeface="Lexend"/>
                <a:cs typeface="Lexend"/>
                <a:sym typeface="Lexend"/>
              </a:rPr>
              <a:t>Interweg Seguros e Benefícios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/>
                <a:ea typeface="Lexend"/>
                <a:cs typeface="Lexend"/>
                <a:sym typeface="Lexend"/>
              </a:rPr>
              <a:t>www.interweg.com.br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/>
                <a:ea typeface="Lexend"/>
                <a:cs typeface="Lexend"/>
                <a:sym typeface="Lexend"/>
              </a:rPr>
              <a:t>@interwegseguros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/>
                <a:ea typeface="Lexend"/>
                <a:cs typeface="Lexend"/>
                <a:sym typeface="Lexend"/>
              </a:rPr>
              <a:t>contato@interweg.com.br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g3acac9cca18_0_154"/>
          <p:cNvSpPr txBox="1"/>
          <p:nvPr/>
        </p:nvSpPr>
        <p:spPr>
          <a:xfrm>
            <a:off x="8735758" y="5479983"/>
            <a:ext cx="281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/>
                <a:ea typeface="Lexend"/>
                <a:cs typeface="Lexend"/>
                <a:sym typeface="Lexend"/>
              </a:rPr>
              <a:t>São Paulo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/>
                <a:ea typeface="Lexend"/>
                <a:cs typeface="Lexend"/>
                <a:sym typeface="Lexend"/>
              </a:rPr>
              <a:t>Av. Dr. Chucri Zaidan, 296 - 23º andar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/>
                <a:ea typeface="Lexend"/>
                <a:cs typeface="Lexend"/>
                <a:sym typeface="Lexend"/>
              </a:rPr>
              <a:t>Vila Cordeiro – São Paulo/SP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10375</TotalTime>
  <Words>412</Words>
  <Application>Microsoft Office PowerPoint</Application>
  <PresentationFormat>Widescreen</PresentationFormat>
  <Paragraphs>61</Paragraphs>
  <Slides>11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11</vt:i4>
      </vt:variant>
    </vt:vector>
  </HeadingPairs>
  <TitlesOfParts>
    <vt:vector size="25" baseType="lpstr">
      <vt:lpstr>Arial</vt:lpstr>
      <vt:lpstr>Calibri</vt:lpstr>
      <vt:lpstr>Calibri Light</vt:lpstr>
      <vt:lpstr>Gilroy-Bold</vt:lpstr>
      <vt:lpstr>Gilroy-Heavy</vt:lpstr>
      <vt:lpstr>Gilroy-Light</vt:lpstr>
      <vt:lpstr>Gilroy-Medium</vt:lpstr>
      <vt:lpstr>Gilroy-SemiBold</vt:lpstr>
      <vt:lpstr>Lexend</vt:lpstr>
      <vt:lpstr>OpenSans-Bold</vt:lpstr>
      <vt:lpstr>Segoe UI</vt:lpstr>
      <vt:lpstr>Wingdings</vt:lpstr>
      <vt:lpstr>Tema do Office</vt:lpstr>
      <vt:lpstr>1_Tema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INTERWEG</dc:creator>
  <cp:lastModifiedBy>Luiza Lourrany Tavares Marques</cp:lastModifiedBy>
  <cp:revision>308</cp:revision>
  <dcterms:created xsi:type="dcterms:W3CDTF">2023-01-30T13:29:27Z</dcterms:created>
  <dcterms:modified xsi:type="dcterms:W3CDTF">2026-04-23T14:46:51Z</dcterms:modified>
</cp:coreProperties>
</file>